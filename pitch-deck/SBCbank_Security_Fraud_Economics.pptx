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Section 8 – Security &amp; Fraud Economics. Emphasise that security is not just a compliance checkbox; it has a direct, measurable financial impact. Highlight the three headline metrics: 70% fraud loss reduction, sub-500ms automated response, and 8.5:1 ROI on security controls.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PILLAR 1 – Fraud Loss Reduction:</a:t>
            </a:r>
          </a:p>
          <a:p>
            <a:r>
              <a:t>Industry average fraud losses sit at ~0.06% of transaction volume. SBCbank targets &lt;0.018% through ML-based real-time scoring and behavioural analytics. At S$500M annual transaction volume this translates to ~S$2.1M in avoided fraud losses per year.</a:t>
            </a:r>
          </a:p>
          <a:p/>
          <a:p>
            <a:r>
              <a:t>PILLAR 2 – Detection-to-Response:</a:t>
            </a:r>
          </a:p>
          <a:p>
            <a:r>
              <a:t>Every transaction is scored in under 100ms. Automated blocking fires in under 500ms. Analyst review SLA is 15 minutes — compared to a typical 2-4 hour industry detection window and 24-48 hour response time. This rapid response dramatically limits blast radius.</a:t>
            </a:r>
          </a:p>
          <a:p/>
          <a:p>
            <a:r>
              <a:t>PILLAR 3 – Cost vs. Avoided Losses:</a:t>
            </a:r>
          </a:p>
          <a:p>
            <a:r>
              <a:t>Total annual cost of controls including infrastructure, compliance, and staffing is ~S$340K. Avoided fraud losses plus regulatory fine avoidance total S$2.6M+, yielding an 8.5:1 ROI. Emphasise that MAS regulatory compliance is bundled into these controls — non-compliance fines under MAS TRM guidelines can reach into the millions.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2194560"/>
            <a:ext cx="731520" cy="41148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9748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rial"/>
              </a:rPr>
              <a:t>Security &amp; Fraud Economics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749039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498DB"/>
                </a:solidFill>
                <a:latin typeface="Arial"/>
              </a:rPr>
              <a:t>Measurable protection, quantifiable return on investment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754880"/>
            <a:ext cx="3108960" cy="1325880"/>
          </a:xfrm>
          <a:prstGeom prst="roundRect">
            <a:avLst/>
          </a:prstGeom>
          <a:solidFill>
            <a:srgbClr val="1A2E45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80060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0C040"/>
                </a:solidFill>
                <a:latin typeface="Arial"/>
              </a:rPr>
              <a:t>↓ 70%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37667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AA0B2"/>
                </a:solidFill>
                <a:latin typeface="Arial"/>
              </a:rPr>
              <a:t>Fraud Loss Reduction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4754880"/>
            <a:ext cx="3108960" cy="1325880"/>
          </a:xfrm>
          <a:prstGeom prst="roundRect">
            <a:avLst/>
          </a:prstGeom>
          <a:solidFill>
            <a:srgbClr val="1A2E45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480060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0C040"/>
                </a:solidFill>
                <a:latin typeface="Arial"/>
              </a:rPr>
              <a:t>&lt; 500ms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537667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AA0B2"/>
                </a:solidFill>
                <a:latin typeface="Arial"/>
              </a:rPr>
              <a:t>Detection-to-Response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4754880"/>
            <a:ext cx="3108960" cy="1325880"/>
          </a:xfrm>
          <a:prstGeom prst="roundRect">
            <a:avLst/>
          </a:prstGeom>
          <a:solidFill>
            <a:srgbClr val="1A2E45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480060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0C040"/>
                </a:solidFill>
                <a:latin typeface="Arial"/>
              </a:rPr>
              <a:t>8.5 :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537667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AA0B2"/>
                </a:solidFill>
                <a:latin typeface="Arial"/>
              </a:rPr>
              <a:t>Controls ROI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6172200"/>
            <a:ext cx="121916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AA0B2"/>
                </a:solidFill>
                <a:latin typeface="Arial"/>
              </a:rPr>
              <a:t>SBCbank  ·  SMU IS458  ·  Singapore MAS Compliant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8.  Security &amp; Fraud Economics  —  Measurable Outcomes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914400"/>
            <a:ext cx="3794760" cy="42062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914400"/>
            <a:ext cx="3794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① Expected Fraud Loss Reduction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1417320"/>
            <a:ext cx="1783080" cy="1005840"/>
          </a:xfrm>
          <a:prstGeom prst="roundRect">
            <a:avLst/>
          </a:prstGeom>
          <a:solidFill>
            <a:srgbClr val="1A2E45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497787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0C040"/>
                </a:solidFill>
                <a:latin typeface="Arial"/>
              </a:rPr>
              <a:t>0.018%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1980590"/>
            <a:ext cx="1783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AA0B2"/>
                </a:solidFill>
                <a:latin typeface="Arial"/>
              </a:rPr>
              <a:t>Target Fraud 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40280" y="1417320"/>
            <a:ext cx="1783080" cy="1005840"/>
          </a:xfrm>
          <a:prstGeom prst="roundRect">
            <a:avLst/>
          </a:prstGeom>
          <a:solidFill>
            <a:srgbClr val="1A2E45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0280" y="1497787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0C040"/>
                </a:solidFill>
                <a:latin typeface="Arial"/>
              </a:rPr>
              <a:t>↓ 70%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1980590"/>
            <a:ext cx="1783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AA0B2"/>
                </a:solidFill>
                <a:latin typeface="Arial"/>
              </a:rPr>
              <a:t>vs. Industry Avg 0.06%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" y="2542032"/>
            <a:ext cx="3794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 b="0">
                <a:solidFill>
                  <a:srgbClr val="CCD6E0"/>
                </a:solidFill>
                <a:latin typeface="Arial"/>
              </a:rPr>
              <a:t>ML model scores every transaction in real-time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CCD6E0"/>
                </a:solidFill>
                <a:latin typeface="Arial"/>
              </a:rPr>
              <a:t>Behavioural analytics detect account takeovers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CCD6E0"/>
                </a:solidFill>
                <a:latin typeface="Arial"/>
              </a:rPr>
              <a:t>Velocity rules block card-testing &amp; brute-force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CCD6E0"/>
                </a:solidFill>
                <a:latin typeface="Arial"/>
              </a:rPr>
              <a:t>Step-up auth on high-risk transactions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CCD6E0"/>
                </a:solidFill>
                <a:latin typeface="Arial"/>
              </a:rPr>
              <a:t>Estimated annual savings: ~S$2.1M at S$500M TXN volume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CCD6E0"/>
                </a:solidFill>
                <a:latin typeface="Arial"/>
              </a:rPr>
              <a:t>Chargeback reduction: projected –55% over 12 months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914400"/>
            <a:ext cx="3794760" cy="42062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914400"/>
            <a:ext cx="3794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② Detection-to-Response Times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1453896"/>
            <a:ext cx="36576" cy="457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141732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C040"/>
                </a:solidFill>
                <a:latin typeface="Arial"/>
              </a:rPr>
              <a:t>&lt;100 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1490472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6E0"/>
                </a:solidFill>
                <a:latin typeface="Arial"/>
              </a:rPr>
              <a:t>Transaction ML Score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2029968"/>
            <a:ext cx="36576" cy="457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1993392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C040"/>
                </a:solidFill>
                <a:latin typeface="Arial"/>
              </a:rPr>
              <a:t>&lt;500 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2066544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6E0"/>
                </a:solidFill>
                <a:latin typeface="Arial"/>
              </a:rPr>
              <a:t>Automated Block/Allow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2606040"/>
            <a:ext cx="36576" cy="457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2569464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C040"/>
                </a:solidFill>
                <a:latin typeface="Arial"/>
              </a:rPr>
              <a:t>&lt; 2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2642616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6E0"/>
                </a:solidFill>
                <a:latin typeface="Arial"/>
              </a:rPr>
              <a:t>Alert + Case Created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3182112"/>
            <a:ext cx="36576" cy="457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3145536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C040"/>
                </a:solidFill>
                <a:latin typeface="Arial"/>
              </a:rPr>
              <a:t>&lt;15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9240" y="321868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6E0"/>
                </a:solidFill>
                <a:latin typeface="Arial"/>
              </a:rPr>
              <a:t>Analyst Review SLA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3758184"/>
            <a:ext cx="36576" cy="457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0" y="3721608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C040"/>
                </a:solidFill>
                <a:latin typeface="Arial"/>
              </a:rPr>
              <a:t>&lt; 1 hr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379476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6E0"/>
                </a:solidFill>
                <a:latin typeface="Arial"/>
              </a:rPr>
              <a:t>Incident Containment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06240" y="4343400"/>
            <a:ext cx="3794760" cy="502920"/>
          </a:xfrm>
          <a:prstGeom prst="roundRect">
            <a:avLst/>
          </a:prstGeom>
          <a:solidFill>
            <a:srgbClr val="3E1C1C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0" y="4370832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CCCC"/>
                </a:solidFill>
                <a:latin typeface="Arial"/>
              </a:rPr>
              <a:t>⚠  Industry avg: 2-4 hr detection · 24-48 hr response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0" y="4937760"/>
            <a:ext cx="3794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 b="0">
                <a:solidFill>
                  <a:srgbClr val="CCD6E0"/>
                </a:solidFill>
                <a:latin typeface="Arial"/>
              </a:rPr>
              <a:t>Automated playbooks via AWS Step Functions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CCD6E0"/>
                </a:solidFill>
                <a:latin typeface="Arial"/>
              </a:rPr>
              <a:t>CloudWatch alarms + PagerDuty escalation pipeline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CCD6E0"/>
                </a:solidFill>
                <a:latin typeface="Arial"/>
              </a:rPr>
              <a:t>99.9% SLA with zero-manual-intervention blocking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83879" y="914400"/>
            <a:ext cx="3794760" cy="42062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83879" y="914400"/>
            <a:ext cx="3794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③ Cost of Controls vs. Avoided Losses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83879" y="1426464"/>
            <a:ext cx="3794760" cy="338328"/>
          </a:xfrm>
          <a:prstGeom prst="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5319" y="1453896"/>
            <a:ext cx="2377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  <a:latin typeface="Arial"/>
              </a:rPr>
              <a:t>Security Infrastructure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52759" y="1453896"/>
            <a:ext cx="1234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CCD6E0"/>
                </a:solidFill>
                <a:latin typeface="Arial"/>
              </a:rPr>
              <a:t>S$165K / yr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83879" y="1801368"/>
            <a:ext cx="3794760" cy="338328"/>
          </a:xfrm>
          <a:prstGeom prst="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75319" y="1828800"/>
            <a:ext cx="2377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  <a:latin typeface="Arial"/>
              </a:rPr>
              <a:t>MAS Compliance Overhead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52759" y="1828800"/>
            <a:ext cx="1234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CCD6E0"/>
                </a:solidFill>
                <a:latin typeface="Arial"/>
              </a:rPr>
              <a:t>S$45K / yr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83879" y="2176272"/>
            <a:ext cx="3794760" cy="338328"/>
          </a:xfrm>
          <a:prstGeom prst="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75319" y="2203704"/>
            <a:ext cx="2377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  <a:latin typeface="Arial"/>
              </a:rPr>
              <a:t>Fraud Ops Staffing (2 FTE)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52759" y="2203704"/>
            <a:ext cx="1234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CCD6E0"/>
                </a:solidFill>
                <a:latin typeface="Arial"/>
              </a:rPr>
              <a:t>S$130K / yr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83879" y="2551176"/>
            <a:ext cx="3794760" cy="384048"/>
          </a:xfrm>
          <a:prstGeom prst="rect">
            <a:avLst/>
          </a:prstGeom>
          <a:solidFill>
            <a:srgbClr val="2A1F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75319" y="257860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TOTAL CONTROLS COST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52759" y="2578608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0C040"/>
                </a:solidFill>
                <a:latin typeface="Arial"/>
              </a:rPr>
              <a:t>S$340K / yr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83879" y="2971800"/>
            <a:ext cx="3794760" cy="338328"/>
          </a:xfrm>
          <a:prstGeom prst="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75319" y="2999232"/>
            <a:ext cx="2377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  <a:latin typeface="Arial"/>
              </a:rPr>
              <a:t>Fraud Loss Prevention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52759" y="2999232"/>
            <a:ext cx="1234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2ECC71"/>
                </a:solidFill>
                <a:latin typeface="Arial"/>
              </a:rPr>
              <a:t>S$2.1M / yr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83879" y="3346704"/>
            <a:ext cx="3794760" cy="338328"/>
          </a:xfrm>
          <a:prstGeom prst="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75319" y="3374136"/>
            <a:ext cx="2377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  <a:latin typeface="Arial"/>
              </a:rPr>
              <a:t>Regulatory Fine Avoidance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52759" y="3374136"/>
            <a:ext cx="1234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2ECC71"/>
                </a:solidFill>
                <a:latin typeface="Arial"/>
              </a:rPr>
              <a:t>S$500K+/ yr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183879" y="3721608"/>
            <a:ext cx="3794760" cy="384048"/>
          </a:xfrm>
          <a:prstGeom prst="rect">
            <a:avLst/>
          </a:prstGeom>
          <a:solidFill>
            <a:srgbClr val="0D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75319" y="374904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TOTAL AVOIDED LOSSES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52759" y="3749040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ECC71"/>
                </a:solidFill>
                <a:latin typeface="Arial"/>
              </a:rPr>
              <a:t>S$2.6M+ / yr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83879" y="4215384"/>
            <a:ext cx="3794760" cy="566928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83879" y="4215384"/>
            <a:ext cx="170764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Arial"/>
              </a:rPr>
              <a:t>  NET ROI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53573" y="4215384"/>
            <a:ext cx="212506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>
                <a:solidFill>
                  <a:srgbClr val="0D1B2A"/>
                </a:solidFill>
                <a:latin typeface="Arial"/>
              </a:rPr>
              <a:t>8.5 : 1  return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0" y="6400800"/>
            <a:ext cx="121916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8AA0B2"/>
                </a:solidFill>
                <a:latin typeface="Arial"/>
              </a:rPr>
              <a:t>SBCbank  ·  SMU IS458  ·  Figures are indicative projections based on industry benchmarks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